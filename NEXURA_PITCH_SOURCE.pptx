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964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5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F1B2D">
              <a:alpha val="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657600"/>
            <a:ext cx="2743200" cy="2743200"/>
          </a:xfrm>
          <a:prstGeom prst="ellipse">
            <a:avLst/>
          </a:prstGeom>
          <a:solidFill>
            <a:srgbClr val="0F1B2D">
              <a:alpha val="0"/>
            </a:srgbClr>
          </a:solidFill>
          <a:ln w="6350">
            <a:solidFill>
              <a:srgbClr val="1A7A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731520"/>
            <a:ext cx="2194560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3108960"/>
            <a:ext cx="1463040" cy="0"/>
          </a:xfrm>
          <a:prstGeom prst="line">
            <a:avLst/>
          </a:prstGeom>
          <a:noFill/>
          <a:ln w="12700">
            <a:solidFill>
              <a:srgbClr val="1A7A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71600" y="3383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5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marketing tools for independent pubs —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5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 while we build it together.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132320" y="4663440"/>
            <a:ext cx="1371600" cy="274320"/>
          </a:xfrm>
          <a:prstGeom prst="rect">
            <a:avLst/>
          </a:prstGeom>
        </p:spPr>
      </p:pic>
      <p:pic>
        <p:nvPicPr>
          <p:cNvPr id="9" name="Picture 8" descr="A blue square with white dots&#10;&#10;AI-generated content may be incorrect.">
            <a:extLst>
              <a:ext uri="{FF2B5EF4-FFF2-40B4-BE49-F238E27FC236}">
                <a16:creationId xmlns:a16="http://schemas.microsoft.com/office/drawing/2014/main" id="{8661D1BE-9845-BE79-9605-9744839E0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766" y="2438400"/>
            <a:ext cx="11049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54864" cy="1371600"/>
          </a:xfrm>
          <a:prstGeom prst="rect">
            <a:avLst/>
          </a:prstGeom>
          <a:solidFill>
            <a:srgbClr val="1A7A6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0F1B2D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people who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 in your pub.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B2D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Hudson and Sam — business students in London with a shared passion for independent hospitality.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0" y="731520"/>
            <a:ext cx="2926080" cy="1280160"/>
          </a:xfrm>
          <a:prstGeom prst="roundRect">
            <a:avLst>
              <a:gd name="adj" fmla="val 10714"/>
            </a:avLst>
          </a:prstGeom>
          <a:solidFill>
            <a:srgbClr val="0F1B2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2926080" cy="1463040"/>
          </a:xfrm>
          <a:prstGeom prst="roundRect">
            <a:avLst>
              <a:gd name="adj" fmla="val 9375"/>
            </a:avLst>
          </a:prstGeom>
          <a:solidFill>
            <a:srgbClr val="1A7A6D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2377440"/>
            <a:ext cx="31089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2834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F1B2D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independents access to the same marketing tools bigger brands take for granted.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132320" y="4663440"/>
            <a:ext cx="137160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2743200" cy="2743200"/>
          </a:xfrm>
          <a:prstGeom prst="ellipse">
            <a:avLst/>
          </a:prstGeom>
          <a:solidFill>
            <a:srgbClr val="0F1B2D">
              <a:alpha val="0"/>
            </a:srgbClr>
          </a:solidFill>
          <a:ln w="6350">
            <a:solidFill>
              <a:srgbClr val="1A7A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5F5F5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more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online.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F5F5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pub already has the atmosphere — social media helps share it with people who haven't found you yet.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029200" y="2286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F5F5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consumers discover new venues through social media.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3200400"/>
            <a:ext cx="914400" cy="0"/>
          </a:xfrm>
          <a:prstGeom prst="line">
            <a:avLst/>
          </a:prstGeom>
          <a:noFill/>
          <a:ln w="6350">
            <a:solidFill>
              <a:srgbClr val="F5F5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5F5F5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the online side so you can focus on what you do best.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132320" y="4663440"/>
            <a:ext cx="137160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1371600"/>
            <a:ext cx="4572000" cy="0"/>
          </a:xfrm>
          <a:prstGeom prst="line">
            <a:avLst/>
          </a:prstGeom>
          <a:noFill/>
          <a:ln w="3810">
            <a:solidFill>
              <a:srgbClr val="0F1B2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2743200"/>
            <a:ext cx="3657600" cy="0"/>
          </a:xfrm>
          <a:prstGeom prst="line">
            <a:avLst/>
          </a:prstGeom>
          <a:noFill/>
          <a:ln w="3810">
            <a:solidFill>
              <a:srgbClr val="0F1B2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0F1B2D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shift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well underway.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B2D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 with a consistent online presence naturally reach more of their local community.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188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2D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social media 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37m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2D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time on social platforms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132320" y="4663440"/>
            <a:ext cx="137160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5F5F5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send a text.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the rest.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5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NEXURA works through WhatsApp — no new apps, no dashboards.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731520"/>
            <a:ext cx="384048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0" y="9144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900" kern="0" spc="300" dirty="0">
                <a:solidFill>
                  <a:srgbClr val="F5F5F5">
                    <a:alpha val="30000"/>
                  </a:srgbClr>
                </a:solidFill>
              </a:rPr>
              <a:t>You send</a:t>
            </a:r>
            <a:endParaRPr lang="en-US" sz="9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i="1" dirty="0">
                <a:solidFill>
                  <a:srgbClr val="F5F5F5">
                    <a:alpha val="75000"/>
                  </a:srgbClr>
                </a:solidFill>
              </a:rPr>
              <a:t>"Quiz night Thursday, £2 off craft beers, starts at 7"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75120" y="2286000"/>
            <a:ext cx="0" cy="548640"/>
          </a:xfrm>
          <a:prstGeom prst="line">
            <a:avLst/>
          </a:prstGeom>
          <a:noFill/>
          <a:ln w="8890">
            <a:solidFill>
              <a:srgbClr val="1A7A6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2926080"/>
            <a:ext cx="3840480" cy="1463040"/>
          </a:xfrm>
          <a:prstGeom prst="roundRect">
            <a:avLst>
              <a:gd name="adj" fmla="val 9375"/>
            </a:avLst>
          </a:prstGeom>
          <a:solidFill>
            <a:srgbClr val="1A7A6D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3108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kern="0" spc="300" dirty="0">
                <a:solidFill>
                  <a:srgbClr val="F5F5F5">
                    <a:alpha val="30000"/>
                  </a:srgbClr>
                </a:solidFill>
              </a:rPr>
              <a:t>We deliver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5F5F5">
                    <a:alpha val="55000"/>
                  </a:srgbClr>
                </a:solidFill>
              </a:rPr>
              <a:t>Professional post on Instagram &amp; Facebook — caption, hashtags, the right image. Live within minutes.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132320" y="4663440"/>
            <a:ext cx="137160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"/>
            <a:ext cx="1097280" cy="10972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0F1B2D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0F1B2D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us, for now.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B2D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our pilot, NEXURA is completely free.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F1B2D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Manager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strike="sngStrike" dirty="0">
                <a:solidFill>
                  <a:srgbClr val="0F1B2D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£500 – £2,000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2D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F1B2D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Strategy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strike="sngStrike" dirty="0">
                <a:solidFill>
                  <a:srgbClr val="0F1B2D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£1,200 – £4,000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2D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200400" cy="0"/>
          </a:xfrm>
          <a:prstGeom prst="line">
            <a:avLst/>
          </a:prstGeom>
          <a:noFill/>
          <a:ln w="8890">
            <a:solidFill>
              <a:srgbClr val="1A7A6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NEXURA Pilot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4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132320" y="4663440"/>
            <a:ext cx="137160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5F5F5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for a month.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5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refining NEXURA with real businesses, and we'd love your input.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6D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9496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94960" y="1234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5F5F5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month of NEXURA, free. No contracts, no payment details. We handle the setup.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6D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love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94960" y="2606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5F5F5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honest feedback. What's working, what could be better — it shapes what we build.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657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6D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thank you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94960" y="3977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5F5F5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members lock in legacy pricing forever. You helped build it — that should count.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132320" y="4663440"/>
            <a:ext cx="137160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274320"/>
            <a:ext cx="5486400" cy="457200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0F1B2D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1A7A6D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9728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2834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28600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2D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us on WhatsApp — we'll have you posting within 24 hours.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860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B2D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Hudson &amp; Sam          London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132320" y="4663440"/>
            <a:ext cx="13716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364</Words>
  <Application>Microsoft Macintosh PowerPoint</Application>
  <PresentationFormat>On-screen Show (16:9)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NEXURA Pitch Deck</dc:title>
  <dc:subject>PptxGenJS Presentation</dc:subject>
  <dc:creator>NEXURA</dc:creator>
  <cp:lastModifiedBy>Hudson Kirstiuk</cp:lastModifiedBy>
  <cp:revision>2</cp:revision>
  <dcterms:created xsi:type="dcterms:W3CDTF">2026-04-01T12:50:04Z</dcterms:created>
  <dcterms:modified xsi:type="dcterms:W3CDTF">2026-04-01T14:37:34Z</dcterms:modified>
</cp:coreProperties>
</file>